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Fraunces" panose="020B0604020202020204" charset="0"/>
      <p:regular r:id="rId12"/>
    </p:embeddedFont>
    <p:embeddedFont>
      <p:font typeface="Fraunces ExtraBold" panose="020B0604020202020204" charset="0"/>
      <p:regular r:id="rId13"/>
    </p:embeddedFont>
    <p:embeddedFont>
      <p:font typeface="Nobile" panose="020B0604020202020204" charset="0"/>
      <p:regular r:id="rId14"/>
    </p:embeddedFont>
    <p:embeddedFont>
      <p:font typeface="Nobile Bold" panose="020B0604020202020204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5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543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4C59-7F1E-4C07-B252-266CD1E8AF8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DBB1-903B-49A2-95E2-1DB286200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0922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4C59-7F1E-4C07-B252-266CD1E8AF8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DBB1-903B-49A2-95E2-1DB286200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1035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4C59-7F1E-4C07-B252-266CD1E8AF8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DBB1-903B-49A2-95E2-1DB286200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4569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4C59-7F1E-4C07-B252-266CD1E8AF8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DBB1-903B-49A2-95E2-1DB286200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568431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4C59-7F1E-4C07-B252-266CD1E8AF8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DBB1-903B-49A2-95E2-1DB286200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22758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4C59-7F1E-4C07-B252-266CD1E8AF8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DBB1-903B-49A2-95E2-1DB286200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557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4C59-7F1E-4C07-B252-266CD1E8AF8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DBB1-903B-49A2-95E2-1DB286200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2843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4C59-7F1E-4C07-B252-266CD1E8AF8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DBB1-903B-49A2-95E2-1DB286200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7194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4C59-7F1E-4C07-B252-266CD1E8AF8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DBB1-903B-49A2-95E2-1DB286200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4266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4C59-7F1E-4C07-B252-266CD1E8AF8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DBB1-903B-49A2-95E2-1DB286200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89992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34C59-7F1E-4C07-B252-266CD1E8AF8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8DBB1-903B-49A2-95E2-1DB286200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7209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690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634C59-7F1E-4C07-B252-266CD1E8AF85}" type="datetimeFigureOut">
              <a:rPr lang="en-IN" smtClean="0"/>
              <a:t>21-09-2026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8DBB1-903B-49A2-95E2-1DB286200E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08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://pyautogui.readthedocs.io" TargetMode="External"/><Relationship Id="rId4" Type="http://schemas.openxmlformats.org/officeDocument/2006/relationships/hyperlink" Target="http://openrouter.ai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25178"/>
            <a:ext cx="2899595" cy="287139"/>
          </a:xfrm>
          <a:prstGeom prst="roundRect">
            <a:avLst>
              <a:gd name="adj" fmla="val 47396"/>
            </a:avLst>
          </a:prstGeom>
          <a:solidFill>
            <a:srgbClr val="DDEEE0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481832"/>
            <a:ext cx="328237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COMPS-B | PROJECT PRESENTATION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787922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Multimodal Accessibility Tool for Visually Impaired People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25268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An AI-powered, voice-driven screen reader and navigation assistant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814961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4100215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Kshitij Patil | Comps-B | 14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Harsh Patil | Comps-B | 10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Krish Patil | Comps-B | 13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2405"/>
            <a:ext cx="1905448" cy="287139"/>
          </a:xfrm>
          <a:prstGeom prst="roundRect">
            <a:avLst>
              <a:gd name="adj" fmla="val 47396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29059"/>
            <a:ext cx="228822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351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Digital Barrier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09266"/>
            <a:ext cx="3496877" cy="23424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212367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Scale of the Problem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2532360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285 million+ people worldwide are visually impaired </a:t>
            </a:r>
            <a:r>
              <a:rPr lang="en-US" sz="14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(WHO, 2023)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1909266"/>
            <a:ext cx="3496877" cy="234245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363" y="212367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Limitations of Existing Tools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663363" y="2827635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Existing screen readers only read plain text — they cannot understand images, buttons, or layouts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1909266"/>
            <a:ext cx="3496877" cy="234245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9247" y="212367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Independence Gap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49247" y="2532360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Users cannot independently fill forms, click buttons, or navigate modern websites</a:t>
            </a:r>
            <a:endParaRPr lang="en-US" sz="14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440734"/>
            <a:ext cx="3496877" cy="17447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77479" y="4655145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Cost Barrier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977479" y="5063827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Licensed tools like JAWS cost ₹50,000+ — unaffordable for most users</a:t>
            </a:r>
            <a:endParaRPr lang="en-US" sz="14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4440734"/>
            <a:ext cx="3496877" cy="17447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63363" y="4655145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Missing Integration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4663363" y="5063827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free tool combines visual understanding, speech, and automated UI interaction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61516"/>
            <a:ext cx="1105666" cy="287139"/>
          </a:xfrm>
          <a:prstGeom prst="roundRect">
            <a:avLst>
              <a:gd name="adj" fmla="val 47396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918170"/>
            <a:ext cx="148844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242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What We Set Out to Achieve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09837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394248"/>
            <a:ext cx="5339820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539504"/>
            <a:ext cx="53398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Capture and understand the full visual context of any computer screen using AI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190301" y="2098377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394248"/>
            <a:ext cx="5339919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6190301" y="2539504"/>
            <a:ext cx="53399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Narrate the screen in natural, human-like language to the user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346075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3756620"/>
            <a:ext cx="5339820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661475" y="3901877"/>
            <a:ext cx="53398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Accept a voice command after narration and interpret user intent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190301" y="346075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3756620"/>
            <a:ext cx="5339919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6" name="Text 14"/>
          <p:cNvSpPr/>
          <p:nvPr/>
        </p:nvSpPr>
        <p:spPr>
          <a:xfrm>
            <a:off x="6190301" y="3901877"/>
            <a:ext cx="53399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Locate the requested UI element on screen using OCR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61475" y="482312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5118993"/>
            <a:ext cx="5339820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5264249"/>
            <a:ext cx="533982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Automatically perform the action (click) on behalf of the user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6190301" y="482312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190301" y="5118993"/>
            <a:ext cx="5339919" cy="2540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2" name="Text 20"/>
          <p:cNvSpPr/>
          <p:nvPr/>
        </p:nvSpPr>
        <p:spPr>
          <a:xfrm>
            <a:off x="6190301" y="5264249"/>
            <a:ext cx="533991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Build a free, lightweight tool that works on any Windows PC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5129"/>
            <a:ext cx="880842" cy="180777"/>
          </a:xfrm>
          <a:prstGeom prst="roundRect">
            <a:avLst>
              <a:gd name="adj" fmla="val 47404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2811" y="590748"/>
            <a:ext cx="1347754" cy="109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METHODOLOGY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65870"/>
            <a:ext cx="10868745" cy="371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System Design &amp; Approach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28651"/>
            <a:ext cx="5396869" cy="95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0435" y="1860550"/>
            <a:ext cx="5158948" cy="29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Step 1 — Screen Capture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780435" y="2202954"/>
            <a:ext cx="5158948" cy="414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0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Triggered by hotkey (Ctrl + Alt + S)</a:t>
            </a:r>
            <a:endParaRPr lang="en-US" sz="1150" dirty="0"/>
          </a:p>
          <a:p>
            <a:pPr marL="233680" indent="-233680" algn="l">
              <a:lnSpc>
                <a:spcPct val="10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Screenshot captured and compressed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252" y="1250156"/>
            <a:ext cx="5396968" cy="952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52212" y="1682055"/>
            <a:ext cx="5159047" cy="29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Step 2 — AI Vision Analysis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252212" y="2024459"/>
            <a:ext cx="5159047" cy="802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0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Screenshot sent to a Multimodal Vision LLM (Google Gemma 4 via OpenRouter)</a:t>
            </a:r>
            <a:endParaRPr lang="en-US" sz="1150" dirty="0"/>
          </a:p>
          <a:p>
            <a:pPr marL="233680" indent="-233680" algn="l">
              <a:lnSpc>
                <a:spcPct val="10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prompted to describe screen like a human guide — layout, buttons, fields, context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98912"/>
            <a:ext cx="5396869" cy="952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0435" y="3630811"/>
            <a:ext cx="5158948" cy="29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Step 3 — Text-to-Speech Narration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780435" y="3973215"/>
            <a:ext cx="5158948" cy="1939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description spoken aloud using Windows native SpeechSynthesizer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252" y="3020417"/>
            <a:ext cx="5396968" cy="9525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52212" y="3452316"/>
            <a:ext cx="5159047" cy="29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Step 4 — Voice Command Input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252212" y="3794720"/>
            <a:ext cx="5159047" cy="63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0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Microphone activates automatically after narration ends</a:t>
            </a:r>
            <a:endParaRPr lang="en-US" sz="1150" dirty="0"/>
          </a:p>
          <a:p>
            <a:pPr marL="233680" indent="-233680" algn="l">
              <a:lnSpc>
                <a:spcPct val="10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 speaks one command (e.g. </a:t>
            </a:r>
            <a:r>
              <a:rPr lang="en-US" sz="11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"Click the login button"</a:t>
            </a: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)</a:t>
            </a:r>
            <a:endParaRPr lang="en-US" sz="1150" dirty="0"/>
          </a:p>
          <a:p>
            <a:pPr marL="233680" indent="-233680" algn="l">
              <a:lnSpc>
                <a:spcPct val="10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Speech captured and transcribed using Google STT</a:t>
            </a:r>
            <a:endParaRPr lang="en-US" sz="11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801394"/>
            <a:ext cx="5396869" cy="9525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80435" y="5233293"/>
            <a:ext cx="5158948" cy="29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Step 5 — Intent Parsing + OCR Grounding</a:t>
            </a:r>
            <a:endParaRPr lang="en-US" sz="1850" dirty="0"/>
          </a:p>
        </p:txBody>
      </p:sp>
      <p:sp>
        <p:nvSpPr>
          <p:cNvPr id="19" name="Text 12"/>
          <p:cNvSpPr/>
          <p:nvPr/>
        </p:nvSpPr>
        <p:spPr>
          <a:xfrm>
            <a:off x="780435" y="5575697"/>
            <a:ext cx="5158948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0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extracts target element name from the voice command</a:t>
            </a:r>
            <a:endParaRPr lang="en-US" sz="1150" dirty="0"/>
          </a:p>
          <a:p>
            <a:pPr marL="233680" indent="-233680" algn="l">
              <a:lnSpc>
                <a:spcPct val="10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Windows Native OCR scans the screenshot and finds the element's screen coordinates</a:t>
            </a:r>
            <a:endParaRPr lang="en-US" sz="115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252" y="4622899"/>
            <a:ext cx="5396968" cy="9525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252212" y="5054798"/>
            <a:ext cx="5159047" cy="297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Step 6 — UI Automation</a:t>
            </a:r>
            <a:endParaRPr lang="en-US" sz="1850" dirty="0"/>
          </a:p>
        </p:txBody>
      </p:sp>
      <p:sp>
        <p:nvSpPr>
          <p:cNvPr id="22" name="Text 14"/>
          <p:cNvSpPr/>
          <p:nvPr/>
        </p:nvSpPr>
        <p:spPr>
          <a:xfrm>
            <a:off x="6252212" y="5397202"/>
            <a:ext cx="5159047" cy="608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0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Mouse moves to the coordinates and clicks the element (PyAutoGUI)</a:t>
            </a:r>
            <a:endParaRPr lang="en-US" sz="1150" dirty="0"/>
          </a:p>
          <a:p>
            <a:pPr marL="233680" indent="-233680" algn="l">
              <a:lnSpc>
                <a:spcPct val="109000"/>
              </a:lnSpc>
              <a:buSzPct val="100000"/>
              <a:buChar char="•"/>
            </a:pPr>
            <a:r>
              <a:rPr lang="en-US" sz="11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 speaks: </a:t>
            </a:r>
            <a:r>
              <a:rPr lang="en-US" sz="11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"Okay… Done"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63997"/>
            <a:ext cx="1056256" cy="186630"/>
          </a:xfrm>
          <a:prstGeom prst="roundRect">
            <a:avLst>
              <a:gd name="adj" fmla="val 47399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5093" y="900807"/>
            <a:ext cx="1518604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082477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Technologies Used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586210"/>
          <a:ext cx="10868745" cy="2877769"/>
        </p:xfrm>
        <a:graphic>
          <a:graphicData uri="http://schemas.openxmlformats.org/drawingml/2006/table">
            <a:tbl>
              <a:tblPr/>
              <a:tblGrid>
                <a:gridCol w="4347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12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1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05449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Module</a:t>
                      </a:r>
                      <a:endParaRPr lang="en-US" sz="14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405449"/>
                          </a:solidFill>
                          <a:latin typeface="Fraunces" pitchFamily="34" charset="0"/>
                          <a:ea typeface="Fraunces" pitchFamily="34" charset="-122"/>
                          <a:cs typeface="Fraunces" pitchFamily="34" charset="-120"/>
                        </a:rPr>
                        <a:t>Technology</a:t>
                      </a:r>
                      <a:endParaRPr lang="en-US" sz="1450" dirty="0">
                        <a:latin typeface="Fraunces" charset="0"/>
                        <a:ea typeface="Fraunces" charset="0"/>
                        <a:cs typeface="Fraunces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3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Screen Capture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Python — Pillow (PIL)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3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Multimodal AI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Google Gemma 4 (OpenRouter API — Free)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3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Text-to-Speech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Windows PowerShell SpeechSynthesizer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3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Speech-to-Text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Google STT + SoundDevice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3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OCR (UI Grounding)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Windows Native OCR (WinRT)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3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UI Automation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PyAutoGUI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3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Hotkey Trigger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Keyboard library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2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Configuration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05449"/>
                          </a:solidFill>
                          <a:latin typeface="Nobile" pitchFamily="34" charset="0"/>
                          <a:ea typeface="Nobile" pitchFamily="34" charset="-122"/>
                          <a:cs typeface="Nobile" pitchFamily="34" charset="-120"/>
                        </a:rPr>
                        <a:t>Python-dotenv</a:t>
                      </a:r>
                      <a:endParaRPr lang="en-US" sz="1200" dirty="0">
                        <a:latin typeface="Nobile" charset="0"/>
                        <a:ea typeface="Nobile" charset="0"/>
                        <a:cs typeface="Nobile" charset="0"/>
                      </a:endParaRPr>
                    </a:p>
                  </a:txBody>
                  <a:tcPr marL="122862" marR="122862" marT="6350" marB="6350" anchor="ctr">
                    <a:lnL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ED9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661475" y="4596507"/>
            <a:ext cx="1086874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Implementation Highlights</a:t>
            </a:r>
            <a:endParaRPr lang="en-US" sz="1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775" y="5010745"/>
            <a:ext cx="5397167" cy="4308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9704" y="5023445"/>
            <a:ext cx="5236238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 SoundDeviceMic adapter — bypasses PyAudio Windows build errors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3054" y="5010745"/>
            <a:ext cx="5397167" cy="4308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93982" y="5023445"/>
            <a:ext cx="5236238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One-shot listener design — captures one command, acts, then shuts off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775" y="5575796"/>
            <a:ext cx="5397167" cy="4308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09704" y="5588496"/>
            <a:ext cx="5236238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OCR used for spatial grounding instead of asking AI for pixel coordinates (more accurate)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3054" y="5575796"/>
            <a:ext cx="5397167" cy="4308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293982" y="5588496"/>
            <a:ext cx="5236238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Entire solution runs on free APIs — zero cost to the user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51793"/>
            <a:ext cx="581705" cy="186630"/>
          </a:xfrm>
          <a:prstGeom prst="roundRect">
            <a:avLst>
              <a:gd name="adj" fmla="val 47399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5093" y="888603"/>
            <a:ext cx="1044053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1070273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What the System Achieved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1475" y="1574006"/>
            <a:ext cx="3569702" cy="929184"/>
          </a:xfrm>
          <a:prstGeom prst="roundRect">
            <a:avLst>
              <a:gd name="adj" fmla="val 11900"/>
            </a:avLst>
          </a:prstGeom>
          <a:solidFill>
            <a:srgbClr val="E8F3E8"/>
          </a:solidFill>
          <a:ln/>
        </p:spPr>
      </p:sp>
      <p:sp>
        <p:nvSpPr>
          <p:cNvPr id="6" name="Text 4"/>
          <p:cNvSpPr/>
          <p:nvPr/>
        </p:nvSpPr>
        <p:spPr>
          <a:xfrm>
            <a:off x="784305" y="1696839"/>
            <a:ext cx="3324043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Screen Narration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84305" y="1974949"/>
            <a:ext cx="332404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Screen narrated in natural human language within </a:t>
            </a:r>
            <a:r>
              <a:rPr lang="en-US" sz="12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~10 seconds</a:t>
            </a: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of hotkey press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0947" y="1574006"/>
            <a:ext cx="3569702" cy="929184"/>
          </a:xfrm>
          <a:prstGeom prst="roundRect">
            <a:avLst>
              <a:gd name="adj" fmla="val 11900"/>
            </a:avLst>
          </a:prstGeom>
          <a:solidFill>
            <a:srgbClr val="E8F3E8"/>
          </a:solidFill>
          <a:ln/>
        </p:spPr>
      </p:sp>
      <p:sp>
        <p:nvSpPr>
          <p:cNvPr id="9" name="Text 7"/>
          <p:cNvSpPr/>
          <p:nvPr/>
        </p:nvSpPr>
        <p:spPr>
          <a:xfrm>
            <a:off x="4433777" y="1696839"/>
            <a:ext cx="3324043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Voice Command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433777" y="1974949"/>
            <a:ext cx="3324043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Voice command transcribed and element located in </a:t>
            </a:r>
            <a:r>
              <a:rPr lang="en-US" sz="1200" b="1" dirty="0">
                <a:solidFill>
                  <a:srgbClr val="405449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</a:rPr>
              <a:t>under 3 seconds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60419" y="1574006"/>
            <a:ext cx="3569801" cy="929184"/>
          </a:xfrm>
          <a:prstGeom prst="roundRect">
            <a:avLst>
              <a:gd name="adj" fmla="val 11900"/>
            </a:avLst>
          </a:prstGeom>
          <a:solidFill>
            <a:srgbClr val="E8F3E8"/>
          </a:solidFill>
          <a:ln/>
        </p:spPr>
      </p:sp>
      <p:sp>
        <p:nvSpPr>
          <p:cNvPr id="12" name="Text 10"/>
          <p:cNvSpPr/>
          <p:nvPr/>
        </p:nvSpPr>
        <p:spPr>
          <a:xfrm>
            <a:off x="8083249" y="1696839"/>
            <a:ext cx="3324142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UI Action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83249" y="1974949"/>
            <a:ext cx="3324142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Mouse automatically moved and clicked the correct UI element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1475" y="2582962"/>
            <a:ext cx="5394488" cy="726480"/>
          </a:xfrm>
          <a:prstGeom prst="roundRect">
            <a:avLst>
              <a:gd name="adj" fmla="val 15221"/>
            </a:avLst>
          </a:prstGeom>
          <a:solidFill>
            <a:srgbClr val="E8F3E8"/>
          </a:solidFill>
          <a:ln/>
        </p:spPr>
      </p:sp>
      <p:sp>
        <p:nvSpPr>
          <p:cNvPr id="15" name="Text 13"/>
          <p:cNvSpPr/>
          <p:nvPr/>
        </p:nvSpPr>
        <p:spPr>
          <a:xfrm>
            <a:off x="784305" y="2705795"/>
            <a:ext cx="5148828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Verbal Confirmation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84305" y="2983905"/>
            <a:ext cx="5148828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System confirmed actions verbally ("Okay" and "Done")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35732" y="2582962"/>
            <a:ext cx="5394488" cy="726480"/>
          </a:xfrm>
          <a:prstGeom prst="roundRect">
            <a:avLst>
              <a:gd name="adj" fmla="val 15221"/>
            </a:avLst>
          </a:prstGeom>
          <a:solidFill>
            <a:srgbClr val="E8F3E8"/>
          </a:solidFill>
          <a:ln/>
        </p:spPr>
      </p:sp>
      <p:sp>
        <p:nvSpPr>
          <p:cNvPr id="18" name="Text 16"/>
          <p:cNvSpPr/>
          <p:nvPr/>
        </p:nvSpPr>
        <p:spPr>
          <a:xfrm>
            <a:off x="6258562" y="2705795"/>
            <a:ext cx="5148828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 Tested Successfully 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258562" y="2983905"/>
            <a:ext cx="5148828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Login pages, search bars, navigation tabs, buttons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475" y="3721695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Accuracy</a:t>
            </a:r>
            <a:endParaRPr lang="en-US" sz="24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225429"/>
            <a:ext cx="3569702" cy="95458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47803" y="4360962"/>
            <a:ext cx="32478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Narration Relevance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847803" y="4639072"/>
            <a:ext cx="3247845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Highly accurate for standard UI layouts</a:t>
            </a:r>
            <a:endParaRPr lang="en-US" sz="12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0947" y="4225429"/>
            <a:ext cx="3569702" cy="95458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497275" y="4360962"/>
            <a:ext cx="3247845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OCR Element Grounding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4497275" y="4639072"/>
            <a:ext cx="3247845" cy="405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Accurate for clearly visible text-based elements</a:t>
            </a:r>
            <a:endParaRPr lang="en-US" sz="12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60419" y="4225429"/>
            <a:ext cx="3569801" cy="9545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46747" y="4360962"/>
            <a:ext cx="3247944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Voice Recognition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8146747" y="4639072"/>
            <a:ext cx="3247944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Accurate in quiet environments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61475" y="529977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Future Enhancements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661475" y="5803503"/>
            <a:ext cx="11478330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Regional language support, mobile app, offline AI mode, and browser extension planned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8680"/>
            <a:ext cx="1085128" cy="254397"/>
          </a:xfrm>
          <a:prstGeom prst="roundRect">
            <a:avLst>
              <a:gd name="adj" fmla="val 47395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1882" y="598884"/>
            <a:ext cx="1493899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62409"/>
            <a:ext cx="10868745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Summary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661475" y="1608237"/>
            <a:ext cx="376724" cy="376734"/>
          </a:xfrm>
          <a:prstGeom prst="roundRect">
            <a:avLst>
              <a:gd name="adj" fmla="val 40006"/>
            </a:avLst>
          </a:prstGeom>
          <a:solidFill>
            <a:srgbClr val="E8F3E8"/>
          </a:solidFill>
          <a:ln/>
        </p:spPr>
      </p:sp>
      <p:sp>
        <p:nvSpPr>
          <p:cNvPr id="6" name="Text 4"/>
          <p:cNvSpPr/>
          <p:nvPr/>
        </p:nvSpPr>
        <p:spPr>
          <a:xfrm>
            <a:off x="1186527" y="1665784"/>
            <a:ext cx="10343693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Successfully built a multimodal AI accessibility tool that sees, speaks, listens, and acts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1475" y="2281634"/>
            <a:ext cx="376724" cy="376734"/>
          </a:xfrm>
          <a:prstGeom prst="roundRect">
            <a:avLst>
              <a:gd name="adj" fmla="val 40006"/>
            </a:avLst>
          </a:prstGeom>
          <a:solidFill>
            <a:srgbClr val="E8F3E8"/>
          </a:solidFill>
          <a:ln/>
        </p:spPr>
      </p:sp>
      <p:sp>
        <p:nvSpPr>
          <p:cNvPr id="8" name="Text 6"/>
          <p:cNvSpPr/>
          <p:nvPr/>
        </p:nvSpPr>
        <p:spPr>
          <a:xfrm>
            <a:off x="1186527" y="2339181"/>
            <a:ext cx="10343693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Combines computer vision, NLP, speech recognition, OCR, and UI automation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61475" y="2955032"/>
            <a:ext cx="376724" cy="376734"/>
          </a:xfrm>
          <a:prstGeom prst="roundRect">
            <a:avLst>
              <a:gd name="adj" fmla="val 40006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1186527" y="3012579"/>
            <a:ext cx="10343693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Enables visually impaired users to navigate any screen using only their voice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1475" y="3628430"/>
            <a:ext cx="376724" cy="376734"/>
          </a:xfrm>
          <a:prstGeom prst="roundRect">
            <a:avLst>
              <a:gd name="adj" fmla="val 40006"/>
            </a:avLst>
          </a:prstGeom>
          <a:solidFill>
            <a:srgbClr val="E8F3E8"/>
          </a:solidFill>
          <a:ln/>
        </p:spPr>
      </p:sp>
      <p:sp>
        <p:nvSpPr>
          <p:cNvPr id="12" name="Text 10"/>
          <p:cNvSpPr/>
          <p:nvPr/>
        </p:nvSpPr>
        <p:spPr>
          <a:xfrm>
            <a:off x="1186527" y="3685977"/>
            <a:ext cx="10343693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Free, lightweight, and runs on any Windows PC with no special hardware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1475" y="4301827"/>
            <a:ext cx="376724" cy="376734"/>
          </a:xfrm>
          <a:prstGeom prst="roundRect">
            <a:avLst>
              <a:gd name="adj" fmla="val 40006"/>
            </a:avLst>
          </a:prstGeom>
          <a:solidFill>
            <a:srgbClr val="E8F3E8"/>
          </a:solidFill>
          <a:ln/>
        </p:spPr>
      </p:sp>
      <p:sp>
        <p:nvSpPr>
          <p:cNvPr id="14" name="Text 12"/>
          <p:cNvSpPr/>
          <p:nvPr/>
        </p:nvSpPr>
        <p:spPr>
          <a:xfrm>
            <a:off x="1186527" y="4359374"/>
            <a:ext cx="10343693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Supports Digital India Mission — empowering 15M+ visually impaired Indians with free, independent digital access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1475" y="5179318"/>
            <a:ext cx="376724" cy="376734"/>
          </a:xfrm>
          <a:prstGeom prst="roundRect">
            <a:avLst>
              <a:gd name="adj" fmla="val 40006"/>
            </a:avLst>
          </a:prstGeom>
          <a:solidFill>
            <a:srgbClr val="E8F3E8"/>
          </a:solidFill>
          <a:ln/>
        </p:spPr>
      </p:sp>
      <p:sp>
        <p:nvSpPr>
          <p:cNvPr id="16" name="Text 14"/>
          <p:cNvSpPr/>
          <p:nvPr/>
        </p:nvSpPr>
        <p:spPr>
          <a:xfrm>
            <a:off x="1186527" y="5236865"/>
            <a:ext cx="10343693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A meaningful step toward making digital technology truly inclusive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2591" y="5889823"/>
            <a:ext cx="11227214" cy="252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"We did not build a workaround. We built equal access."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1475" y="5722938"/>
            <a:ext cx="19050" cy="586383"/>
          </a:xfrm>
          <a:prstGeom prst="roundRect">
            <a:avLst>
              <a:gd name="adj" fmla="val 49999"/>
            </a:avLst>
          </a:prstGeom>
          <a:solidFill>
            <a:srgbClr val="43895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3370"/>
            <a:ext cx="1169760" cy="287139"/>
          </a:xfrm>
          <a:prstGeom prst="roundRect">
            <a:avLst>
              <a:gd name="adj" fmla="val 47396"/>
            </a:avLst>
          </a:prstGeom>
          <a:noFill/>
          <a:ln w="6350">
            <a:solidFill>
              <a:srgbClr val="4389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70024"/>
            <a:ext cx="155253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REFERENCES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7611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References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1859657"/>
            <a:ext cx="283461" cy="2834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1850231"/>
            <a:ext cx="102544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WHO (2023) — </a:t>
            </a:r>
            <a:r>
              <a:rPr lang="en-US" sz="1450" i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World Report on Vision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2814141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2804716"/>
            <a:ext cx="102544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OpenRouter API — </a:t>
            </a:r>
            <a:r>
              <a:rPr lang="en-US" sz="1450" b="1" u="sng" dirty="0">
                <a:solidFill>
                  <a:srgbClr val="438951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openrouter.ai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3768626"/>
            <a:ext cx="283461" cy="2834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5723" y="3759200"/>
            <a:ext cx="102544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Windows WinRT OCR — Microsoft Docs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4723110"/>
            <a:ext cx="283461" cy="2834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75723" y="4713684"/>
            <a:ext cx="102544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PyAutoGUI — </a:t>
            </a:r>
            <a:r>
              <a:rPr lang="en-US" sz="1450" b="1" u="sng" dirty="0">
                <a:solidFill>
                  <a:srgbClr val="438951"/>
                </a:solidFill>
                <a:latin typeface="Nobile Bold" pitchFamily="34" charset="0"/>
                <a:ea typeface="Nobile Bold" pitchFamily="34" charset="-122"/>
                <a:cs typeface="Nobile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pyautogui.readthedocs.io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5677595"/>
            <a:ext cx="283461" cy="2834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75723" y="5668169"/>
            <a:ext cx="1025449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SpeechRecognition Library — pypi.org/project/SpeechRecognition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99853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Thank You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661475" y="3240286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0544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61475" y="3525540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Multimodal Accessibility Tool for Visually Impaired People</a:t>
            </a:r>
            <a:endParaRPr lang="en-US" sz="1450" dirty="0"/>
          </a:p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Kshitij Patil | Harsh Patil | Krish Patil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Comps-B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</TotalTime>
  <Words>753</Words>
  <Application>Microsoft Office PowerPoint</Application>
  <PresentationFormat>Widescreen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Nobile Bold</vt:lpstr>
      <vt:lpstr>Arial</vt:lpstr>
      <vt:lpstr>Fraunces Light</vt:lpstr>
      <vt:lpstr>Calibri</vt:lpstr>
      <vt:lpstr>Fraunces</vt:lpstr>
      <vt:lpstr>Calibri Light</vt:lpstr>
      <vt:lpstr>Fraunces ExtraBold</vt:lpstr>
      <vt:lpstr>Nobile</vt:lpstr>
      <vt:lpstr>Noto Color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Kshitij Patil</cp:lastModifiedBy>
  <cp:revision>2</cp:revision>
  <dcterms:created xsi:type="dcterms:W3CDTF">2026-09-21T13:42:10Z</dcterms:created>
  <dcterms:modified xsi:type="dcterms:W3CDTF">2026-09-21T13:47:48Z</dcterms:modified>
</cp:coreProperties>
</file>